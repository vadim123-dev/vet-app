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9E"/>
                </a:solidFill>
              </a:rPr>
              <a:t>DEVSECOPS —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A6FF"/>
                </a:solidFill>
              </a:rPr>
              <a:t>TeyaVet — Vet Clinic Management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78992"/>
            <a:ext cx="1143000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2560320" cy="2286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32588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58A6FF"/>
                </a:solidFill>
              </a:defRPr>
            </a:pPr>
            <a:r>
              <a:t>AM</a:t>
            </a:r>
          </a:p>
          <a:p>
            <a:pPr algn="ctr">
              <a:defRPr sz="1300" b="0">
                <a:solidFill>
                  <a:srgbClr val="E6EDF3"/>
                </a:solidFill>
              </a:defRPr>
            </a:pPr>
            <a:r>
              <a:t>Assaf Mashal</a:t>
            </a:r>
          </a:p>
          <a:p>
            <a:pPr algn="ctr">
              <a:defRPr sz="1000" b="0">
                <a:solidFill>
                  <a:srgbClr val="8B949E"/>
                </a:solidFill>
              </a:defRPr>
            </a:pPr>
            <a:r>
              <a:t>Full-Stack &amp; Cloud Engineer</a:t>
            </a:r>
          </a:p>
          <a:p>
            <a:pPr algn="ctr">
              <a:defRPr sz="900" b="0">
                <a:solidFill>
                  <a:srgbClr val="58A6FF"/>
                </a:solidFill>
              </a:defRPr>
            </a:pPr>
            <a:r>
              <a:t>DevSecOps Course — Final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234440"/>
            <a:ext cx="4114800" cy="1371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2984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WHAT IS TEYAVET?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572768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0">
                <a:solidFill>
                  <a:srgbClr val="E6EDF3"/>
                </a:solidFill>
              </a:defRPr>
            </a:pPr>
            <a:r>
              <a:t>› Vet clinic staff portal</a:t>
            </a:r>
          </a:p>
          <a:p>
            <a:pPr>
              <a:defRPr sz="1100" b="0">
                <a:solidFill>
                  <a:srgbClr val="E6EDF3"/>
                </a:solidFill>
              </a:defRPr>
            </a:pPr>
            <a:r>
              <a:t>› Manage pet owners, patients &amp; appointments</a:t>
            </a:r>
          </a:p>
          <a:p>
            <a:pPr>
              <a:defRPr sz="1100" b="0">
                <a:solidFill>
                  <a:srgbClr val="E6EDF3"/>
                </a:solidFill>
              </a:defRPr>
            </a:pPr>
            <a:r>
              <a:t>› Scheduling with conflict detection</a:t>
            </a:r>
          </a:p>
          <a:p>
            <a:pPr>
              <a:defRPr sz="1100" b="0">
                <a:solidFill>
                  <a:srgbClr val="E6EDF3"/>
                </a:solidFill>
              </a:defRPr>
            </a:pPr>
            <a:r>
              <a:t>› Medical records &amp; measurements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8" y="1234440"/>
            <a:ext cx="4114800" cy="1371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2984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TECH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572768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0">
                <a:solidFill>
                  <a:srgbClr val="E6EDF3"/>
                </a:solidFill>
              </a:defRPr>
            </a:pPr>
            <a:r>
              <a:t>› Backend — Python 3.13 · Flask · JWT</a:t>
            </a:r>
          </a:p>
          <a:p>
            <a:pPr>
              <a:defRPr sz="1100" b="0">
                <a:solidFill>
                  <a:srgbClr val="E6EDF3"/>
                </a:solidFill>
              </a:defRPr>
            </a:pPr>
            <a:r>
              <a:t>› Frontend — React 18 · Vite · plain CSS</a:t>
            </a:r>
          </a:p>
          <a:p>
            <a:pPr>
              <a:defRPr sz="1100" b="0">
                <a:solidFill>
                  <a:srgbClr val="E6EDF3"/>
                </a:solidFill>
              </a:defRPr>
            </a:pPr>
            <a:r>
              <a:t>› Database — MySQL 8 (InnoDB)</a:t>
            </a:r>
          </a:p>
          <a:p>
            <a:pPr>
              <a:defRPr sz="1100" b="0">
                <a:solidFill>
                  <a:srgbClr val="E6EDF3"/>
                </a:solidFill>
              </a:defRPr>
            </a:pPr>
            <a:r>
              <a:t>› Infra — Docker → Kubernetes on AWS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3703320"/>
            <a:ext cx="11430000" cy="17373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7673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ARCHITECTURE — DEV VS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LOCAL / DEV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159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</a:rPr>
              <a:t>docker compose up  →  MySQL 8  +  Flask API :5000  +  React :5173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069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PRODUCTION (AWS)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3159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</a:rPr>
              <a:t>ALB  →  EKS pods (backend + frontend)  +  RDS MySQL (private subnet)  ·  ECR images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9E"/>
                </a:solidFill>
              </a:rPr>
              <a:t>INFRASTRUCTURE &amp; HOSTING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A6FF"/>
                </a:solidFill>
              </a:rPr>
              <a:t>What Runs Where — AWS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78992"/>
            <a:ext cx="1143000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5577840" cy="2423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AWS RESOURCES (TERRAFORM IaC)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/>
            </a:pPr>
            <a:r>
              <a:rPr b="1">
                <a:solidFill>
                  <a:srgbClr val="58A6FF"/>
                </a:solidFill>
              </a:rPr>
              <a:t>› VPC</a:t>
            </a:r>
            <a:r>
              <a:rPr>
                <a:solidFill>
                  <a:srgbClr val="E6EDF3"/>
                </a:solidFill>
              </a:rPr>
              <a:t> — 2 public + 2 private subnets, multi-AZ</a:t>
            </a:r>
          </a:p>
          <a:p>
            <a:pPr>
              <a:defRPr sz="1100"/>
            </a:pPr>
            <a:r>
              <a:rPr b="1">
                <a:solidFill>
                  <a:srgbClr val="58A6FF"/>
                </a:solidFill>
              </a:rPr>
              <a:t>› EKS 1.31</a:t>
            </a:r>
            <a:r>
              <a:rPr>
                <a:solidFill>
                  <a:srgbClr val="E6EDF3"/>
                </a:solidFill>
              </a:rPr>
              <a:t> — managed node group (t3.medium, private subnets)</a:t>
            </a:r>
          </a:p>
          <a:p>
            <a:pPr>
              <a:defRPr sz="1100"/>
            </a:pPr>
            <a:r>
              <a:rPr b="1">
                <a:solidFill>
                  <a:srgbClr val="58A6FF"/>
                </a:solidFill>
              </a:rPr>
              <a:t>› RDS MySQL 8</a:t>
            </a:r>
            <a:r>
              <a:rPr>
                <a:solidFill>
                  <a:srgbClr val="E6EDF3"/>
                </a:solidFill>
              </a:rPr>
              <a:t> — private subnet only, no public access</a:t>
            </a:r>
          </a:p>
          <a:p>
            <a:pPr>
              <a:defRPr sz="1100"/>
            </a:pPr>
            <a:r>
              <a:rPr b="1">
                <a:solidFill>
                  <a:srgbClr val="58A6FF"/>
                </a:solidFill>
              </a:rPr>
              <a:t>› ECR</a:t>
            </a:r>
            <a:r>
              <a:rPr>
                <a:solidFill>
                  <a:srgbClr val="E6EDF3"/>
                </a:solidFill>
              </a:rPr>
              <a:t> — 2 repos (backend + frontend), image scanning on push</a:t>
            </a:r>
          </a:p>
          <a:p>
            <a:pPr>
              <a:defRPr sz="1100"/>
            </a:pPr>
            <a:r>
              <a:rPr b="1">
                <a:solidFill>
                  <a:srgbClr val="58A6FF"/>
                </a:solidFill>
              </a:rPr>
              <a:t>› ALB</a:t>
            </a:r>
            <a:r>
              <a:rPr>
                <a:solidFill>
                  <a:srgbClr val="E6EDF3"/>
                </a:solidFill>
              </a:rPr>
              <a:t> — provisioned by AWS Load Balancer Controller via Helm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216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</a:rPr>
              <a:t>Terraform  ·  S3 remote state  ·  DynamoDB lock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3858768"/>
            <a:ext cx="5577840" cy="16916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92277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WHERE ARE DOCKER IMAGES BUILT?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879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</a:rPr>
              <a:t>push to master  →  GitHub Actions runner  →  AWS ECR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98848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50" b="0">
                <a:solidFill>
                  <a:srgbClr val="E6EDF3"/>
                </a:solidFill>
              </a:defRPr>
            </a:pPr>
            <a:r>
              <a:t>› 3 images: backend · frontend (multi-stage Node→Nginx) · db</a:t>
            </a:r>
          </a:p>
          <a:p>
            <a:pPr>
              <a:defRPr sz="1050" b="0">
                <a:solidFill>
                  <a:srgbClr val="E6EDF3"/>
                </a:solidFill>
              </a:defRPr>
            </a:pPr>
            <a:r>
              <a:t>› Backend: non-root appuser — least privilege</a:t>
            </a:r>
          </a:p>
          <a:p>
            <a:pPr>
              <a:defRPr sz="1050" b="0">
                <a:solidFill>
                  <a:srgbClr val="E6EDF3"/>
                </a:solidFill>
              </a:defRPr>
            </a:pPr>
            <a:r>
              <a:t>› ECR lifecycle: keep last 10 tags, expire untagged after 1 day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234440"/>
            <a:ext cx="5669280" cy="2423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29844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RESPONSIBLE HOSTING — SECURITY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572768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/>
            </a:pPr>
            <a:r>
              <a:rPr b="1">
                <a:solidFill>
                  <a:srgbClr val="3FB950"/>
                </a:solidFill>
              </a:rPr>
              <a:t>› No static AWS keys</a:t>
            </a:r>
            <a:r>
              <a:rPr>
                <a:solidFill>
                  <a:srgbClr val="E6EDF3"/>
                </a:solidFill>
              </a:rPr>
              <a:t> — GitHub OIDC → STS short-lived tokens</a:t>
            </a:r>
          </a:p>
          <a:p>
            <a:pPr>
              <a:defRPr sz="1100"/>
            </a:pPr>
            <a:r>
              <a:rPr b="1">
                <a:solidFill>
                  <a:srgbClr val="3FB950"/>
                </a:solidFill>
              </a:rPr>
              <a:t>› RDS in private subnet</a:t>
            </a:r>
            <a:r>
              <a:rPr>
                <a:solidFill>
                  <a:srgbClr val="E6EDF3"/>
                </a:solidFill>
              </a:rPr>
              <a:t> — unreachable from internet</a:t>
            </a:r>
          </a:p>
          <a:p>
            <a:pPr>
              <a:defRPr sz="1100"/>
            </a:pPr>
            <a:r>
              <a:rPr b="1">
                <a:solidFill>
                  <a:srgbClr val="3FB950"/>
                </a:solidFill>
              </a:rPr>
              <a:t>› ECR image scanning</a:t>
            </a:r>
            <a:r>
              <a:rPr>
                <a:solidFill>
                  <a:srgbClr val="E6EDF3"/>
                </a:solidFill>
              </a:rPr>
              <a:t> on every push</a:t>
            </a:r>
          </a:p>
          <a:p>
            <a:pPr>
              <a:defRPr sz="1100"/>
            </a:pPr>
            <a:r>
              <a:rPr b="1">
                <a:solidFill>
                  <a:srgbClr val="3FB950"/>
                </a:solidFill>
              </a:rPr>
              <a:t>› Non-root containers</a:t>
            </a:r>
            <a:r>
              <a:rPr>
                <a:solidFill>
                  <a:srgbClr val="E6EDF3"/>
                </a:solidFill>
              </a:rPr>
              <a:t> — Flask runs as appuser</a:t>
            </a:r>
          </a:p>
          <a:p>
            <a:pPr>
              <a:defRPr sz="1100"/>
            </a:pPr>
            <a:r>
              <a:rPr b="1">
                <a:solidFill>
                  <a:srgbClr val="3FB950"/>
                </a:solidFill>
              </a:rPr>
              <a:t>› Secrets in GitHub Secrets</a:t>
            </a:r>
            <a:r>
              <a:rPr>
                <a:solidFill>
                  <a:srgbClr val="E6EDF3"/>
                </a:solidFill>
              </a:rPr>
              <a:t> — injected at runtime, never in code</a:t>
            </a:r>
          </a:p>
          <a:p>
            <a:pPr>
              <a:defRPr sz="1100"/>
            </a:pPr>
            <a:r>
              <a:rPr b="1">
                <a:solidFill>
                  <a:srgbClr val="3FB950"/>
                </a:solidFill>
              </a:rPr>
              <a:t>› Security groups</a:t>
            </a:r>
            <a:r>
              <a:rPr>
                <a:solidFill>
                  <a:srgbClr val="E6EDF3"/>
                </a:solidFill>
              </a:rPr>
              <a:t>: RDS only accepts MySQL from EKS nodes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3858768"/>
            <a:ext cx="5669280" cy="16916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92277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IaC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1879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8A6FF"/>
                </a:solidFill>
              </a:rPr>
              <a:t>Bootstrap → S3+DynamoDB state → terraform-apply.yml → VPC / EKS / RDS / ECR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52628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50" b="0">
                <a:solidFill>
                  <a:srgbClr val="E6EDF3"/>
                </a:solidFill>
              </a:defRPr>
            </a:pPr>
            <a:r>
              <a:t>› Manual dispatch — intentional gate before infra changes</a:t>
            </a:r>
          </a:p>
          <a:p>
            <a:pPr>
              <a:defRPr sz="1050" b="0">
                <a:solidFill>
                  <a:srgbClr val="E6EDF3"/>
                </a:solidFill>
              </a:defRPr>
            </a:pPr>
            <a:r>
              <a:t>› prevent_destroy on GitHub OIDC provider</a:t>
            </a:r>
          </a:p>
          <a:p>
            <a:pPr>
              <a:defRPr sz="1050" b="0">
                <a:solidFill>
                  <a:srgbClr val="E6EDF3"/>
                </a:solidFill>
              </a:defRPr>
            </a:pPr>
            <a:r>
              <a:t>› destroy.sh script for full teardown with safeguards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9E"/>
                </a:solidFill>
              </a:rPr>
              <a:t>CI/CD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A6FF"/>
                </a:solidFill>
              </a:rPr>
              <a:t>DevSecOps Workflow — Git Branching &amp; Pipelines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78992"/>
            <a:ext cx="1143000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3566160" cy="32004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GIT BRANCH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0">
                <a:solidFill>
                  <a:srgbClr val="E6EDF3"/>
                </a:solidFill>
              </a:defRPr>
            </a:pPr>
            <a:r>
              <a:t>› master = production (trunk-based)</a:t>
            </a:r>
          </a:p>
          <a:p>
            <a:pPr>
              <a:defRPr sz="1100" b="0">
                <a:solidFill>
                  <a:srgbClr val="E6EDF3"/>
                </a:solidFill>
              </a:defRPr>
            </a:pPr>
            <a:r>
              <a:t>› Feature branches by prefix:</a:t>
            </a:r>
          </a:p>
          <a:p>
            <a:pPr>
              <a:defRPr sz="1100"/>
            </a:pPr>
            <a:r>
              <a:rPr b="1">
                <a:solidFill>
                  <a:srgbClr val="58A6FF"/>
                </a:solidFill>
              </a:rPr>
              <a:t>    • feat/</a:t>
            </a:r>
          </a:p>
          <a:p>
            <a:pPr>
              <a:defRPr sz="1100"/>
            </a:pPr>
            <a:r>
              <a:rPr b="1">
                <a:solidFill>
                  <a:srgbClr val="3FB950"/>
                </a:solidFill>
              </a:rPr>
              <a:t>    • ci/</a:t>
            </a:r>
          </a:p>
          <a:p>
            <a:pPr>
              <a:defRPr sz="1100"/>
            </a:pPr>
            <a:r>
              <a:rPr b="1">
                <a:solidFill>
                  <a:srgbClr val="F78166"/>
                </a:solidFill>
              </a:rPr>
              <a:t>    • fix/</a:t>
            </a:r>
          </a:p>
          <a:p>
            <a:pPr>
              <a:defRPr sz="1100"/>
            </a:pPr>
            <a:r>
              <a:rPr b="1">
                <a:solidFill>
                  <a:srgbClr val="D2A8FF"/>
                </a:solidFill>
              </a:rPr>
              <a:t>    • infra/</a:t>
            </a:r>
          </a:p>
          <a:p>
            <a:pPr>
              <a:defRPr sz="1100"/>
            </a:pPr>
            <a:r>
              <a:rPr b="1">
                <a:solidFill>
                  <a:srgbClr val="F78166"/>
                </a:solidFill>
              </a:rPr>
              <a:t>    • security/</a:t>
            </a:r>
          </a:p>
          <a:p>
            <a:pPr>
              <a:defRPr sz="1100" b="0">
                <a:solidFill>
                  <a:srgbClr val="E6EDF3"/>
                </a:solidFill>
              </a:defRPr>
            </a:pPr>
            <a:r>
              <a:t>› All changes: PR → checks → merge</a:t>
            </a:r>
          </a:p>
          <a:p>
            <a:pPr>
              <a:defRPr sz="1100" b="0">
                <a:solidFill>
                  <a:srgbClr val="E6EDF3"/>
                </a:solidFill>
              </a:defRPr>
            </a:pPr>
            <a:r>
              <a:t>› No direct push to master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33087" y="1234440"/>
            <a:ext cx="3749039" cy="32004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29844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PR GATE — pr-checks.yml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572768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/>
            </a:pPr>
            <a:r>
              <a:rPr b="1">
                <a:solidFill>
                  <a:srgbClr val="3FB950"/>
                </a:solidFill>
              </a:rPr>
              <a:t>› Lint</a:t>
            </a:r>
            <a:r>
              <a:rPr>
                <a:solidFill>
                  <a:srgbClr val="E6EDF3"/>
                </a:solidFill>
              </a:rPr>
              <a:t> — ESLint (frontend) · ruff (backend)</a:t>
            </a:r>
          </a:p>
          <a:p>
            <a:pPr>
              <a:defRPr sz="1100"/>
            </a:pPr>
            <a:r>
              <a:rPr b="1">
                <a:solidFill>
                  <a:srgbClr val="3FB950"/>
                </a:solidFill>
              </a:rPr>
              <a:t>› SCA</a:t>
            </a:r>
            <a:r>
              <a:rPr>
                <a:solidFill>
                  <a:srgbClr val="E6EDF3"/>
                </a:solidFill>
              </a:rPr>
              <a:t> — npm audit --audit-level=high</a:t>
            </a:r>
          </a:p>
          <a:p>
            <a:pPr>
              <a:defRPr sz="1100"/>
            </a:pPr>
            <a:r>
              <a:rPr b="1">
                <a:solidFill>
                  <a:srgbClr val="3FB950"/>
                </a:solidFill>
              </a:rPr>
              <a:t>› SCA</a:t>
            </a:r>
            <a:r>
              <a:rPr>
                <a:solidFill>
                  <a:srgbClr val="E6EDF3"/>
                </a:solidFill>
              </a:rPr>
              <a:t> — pip-audit (Python deps)</a:t>
            </a:r>
          </a:p>
          <a:p>
            <a:pPr>
              <a:defRPr sz="1100"/>
            </a:pPr>
            <a:r>
              <a:rPr b="1">
                <a:solidFill>
                  <a:srgbClr val="3FB950"/>
                </a:solidFill>
              </a:rPr>
              <a:t>› Unit tests</a:t>
            </a:r>
            <a:r>
              <a:rPr>
                <a:solidFill>
                  <a:srgbClr val="E6EDF3"/>
                </a:solidFill>
              </a:rPr>
              <a:t> — pytest backend suite</a:t>
            </a:r>
          </a:p>
          <a:p>
            <a:pPr>
              <a:defRPr sz="1100"/>
            </a:pPr>
            <a:r>
              <a:rPr b="1">
                <a:solidFill>
                  <a:srgbClr val="E6EDF3"/>
                </a:solidFill>
              </a:rPr>
              <a:t>› Build must succeed</a:t>
            </a:r>
            <a:r>
              <a:rPr>
                <a:solidFill>
                  <a:srgbClr val="E6EDF3"/>
                </a:solidFill>
              </a:rPr>
              <a:t> (Vite build)</a:t>
            </a:r>
          </a:p>
          <a:p>
            <a:pPr>
              <a:defRPr sz="1100"/>
            </a:pPr>
            <a:r>
              <a:rPr b="1">
                <a:solidFill>
                  <a:srgbClr val="8B949E"/>
                </a:solidFill>
              </a:rPr>
              <a:t>› Triggers</a:t>
            </a:r>
            <a:r>
              <a:rPr>
                <a:solidFill>
                  <a:srgbClr val="E6EDF3"/>
                </a:solidFill>
              </a:rPr>
              <a:t>: PR open / sync / reopen to master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5008" y="1234440"/>
            <a:ext cx="3749039" cy="2743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29844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CI/CD — cd.yml (push to master)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15727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2A8FF"/>
                </a:solidFill>
              </a:rPr>
              <a:t>push to master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74650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8745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8A6FF"/>
                </a:solidFill>
              </a:rPr>
              <a:t>Build 3 Docker 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4825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1762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8A6FF"/>
                </a:solidFill>
              </a:rPr>
              <a:t>Containers → integration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500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4780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78166"/>
                </a:solidFill>
              </a:rPr>
              <a:t>Trivy scan — block on 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5176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77977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FB950"/>
                </a:solidFill>
              </a:rPr>
              <a:t>Push to AWS ECR (OIDC)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4160520"/>
            <a:ext cx="11430000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2245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EKS DEPLOY — deploy-eks.yml   ·   manual workflow_dispatch   ·   environment: production (reviewer approval)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507992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8A6FF"/>
                </a:solidFill>
              </a:rPr>
              <a:t>image_tag input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6504" y="4507992"/>
            <a:ext cx="18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56232" y="4507992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8A6FF"/>
                </a:solidFill>
              </a:rPr>
              <a:t>OIDC → kubeconfig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9816" y="4507992"/>
            <a:ext cx="18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9544" y="4507992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2A8FF"/>
                </a:solidFill>
              </a:rPr>
              <a:t>Helm: AWS LBC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8" y="4507992"/>
            <a:ext cx="18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6" y="4507992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78166"/>
                </a:solidFill>
              </a:rPr>
              <a:t>K8s Secret ← GitHub Secrets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507992"/>
            <a:ext cx="18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16168" y="4507992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8A6FF"/>
                </a:solidFill>
              </a:rPr>
              <a:t>DB migration job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9752" y="4507992"/>
            <a:ext cx="18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507992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8A6FF"/>
                </a:solidFill>
              </a:rPr>
              <a:t>Apply Services + Ingress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13064" y="4507992"/>
            <a:ext cx="18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22792" y="4507992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FB950"/>
                </a:solidFill>
              </a:rPr>
              <a:t>Deploy pods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66376" y="4507992"/>
            <a:ext cx="18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4507992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FB950"/>
                </a:solidFill>
              </a:rPr>
              <a:t>Wait rollout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892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</a:rPr>
              <a:t>› Secrets injected at runtime — never baked into image or git     › OIDC: no AWS_ACCESS_KEY_ID stored anywhere     › Parameterized image tag — controlled versioning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9E"/>
                </a:solidFill>
              </a:rPr>
              <a:t>KUBERNETES — CLUSTER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A6FF"/>
                </a:solidFill>
              </a:rPr>
              <a:t>EKS Architecture — Pods, Networking &amp; Permissions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78992"/>
            <a:ext cx="1143000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3749039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TRAFFIC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356615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50" b="0">
                <a:solidFill>
                  <a:srgbClr val="E6EDF3"/>
                </a:solidFill>
              </a:defRPr>
            </a:pPr>
            <a:r>
              <a:t>› ALB — internet-facing, HTTP :80</a:t>
            </a:r>
          </a:p>
          <a:p>
            <a:pPr>
              <a:defRPr sz="1050" b="0">
                <a:solidFill>
                  <a:srgbClr val="E6EDF3"/>
                </a:solidFill>
              </a:defRPr>
            </a:pPr>
            <a:r>
              <a:t>› Ingress path rules:</a:t>
            </a:r>
          </a:p>
          <a:p>
            <a:pPr>
              <a:defRPr sz="1000">
                <a:solidFill>
                  <a:srgbClr val="58A6FF"/>
                </a:solidFill>
              </a:defRPr>
            </a:pPr>
            <a:r>
              <a:t>    /users /pets /appointments … → backend-service :5000</a:t>
            </a:r>
          </a:p>
          <a:p>
            <a:pPr>
              <a:defRPr sz="1000">
                <a:solidFill>
                  <a:srgbClr val="58A6FF"/>
                </a:solidFill>
              </a:defRPr>
            </a:pPr>
            <a:r>
              <a:t>    / (catch-all)               → frontend-service :80</a:t>
            </a:r>
          </a:p>
          <a:p>
            <a:pPr>
              <a:defRPr sz="1050" b="0">
                <a:solidFill>
                  <a:srgbClr val="8B949E"/>
                </a:solidFill>
              </a:defRPr>
            </a:pPr>
            <a:r>
              <a:t>› ClusterIP services (pods not directly exposed)</a:t>
            </a:r>
          </a:p>
          <a:p>
            <a:pPr>
              <a:defRPr sz="1050" b="0">
                <a:solidFill>
                  <a:srgbClr val="E6EDF3"/>
                </a:solidFill>
              </a:defRPr>
            </a:pPr>
            <a:r>
              <a:t>› target-type: ip — routes to pod IPs (AWS VPC CNI)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3456432"/>
            <a:ext cx="3749039" cy="1371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52044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AWS LOAD BALANCER 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94760"/>
            <a:ext cx="356615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50" b="0">
                <a:solidFill>
                  <a:srgbClr val="E6EDF3"/>
                </a:solidFill>
              </a:defRPr>
            </a:pPr>
            <a:r>
              <a:t>› Runs in kube-system namespace</a:t>
            </a:r>
          </a:p>
          <a:p>
            <a:pPr>
              <a:defRPr sz="1050" b="0">
                <a:solidFill>
                  <a:srgbClr val="E6EDF3"/>
                </a:solidFill>
              </a:defRPr>
            </a:pPr>
            <a:r>
              <a:t>› Installed via Helm on every deploy (idempotent)</a:t>
            </a:r>
          </a:p>
          <a:p>
            <a:pPr>
              <a:defRPr sz="1050" b="0">
                <a:solidFill>
                  <a:srgbClr val="3FB950"/>
                </a:solidFill>
              </a:defRPr>
            </a:pPr>
            <a:r>
              <a:t>› IRSA: own IAM role scoped to ALB/EC2 APIs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5" y="1234440"/>
            <a:ext cx="3749039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7" y="129844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BACKEND — 2 REPLICAS  (Flask :5000)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7" y="1572768"/>
            <a:ext cx="35661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50" b="0">
                <a:solidFill>
                  <a:srgbClr val="E6EDF3"/>
                </a:solidFill>
              </a:defRPr>
            </a:pPr>
            <a:r>
              <a:t>› Image from ECR — tag injected at deploy time</a:t>
            </a:r>
          </a:p>
          <a:p>
            <a:pPr>
              <a:defRPr sz="1050" b="0">
                <a:solidFill>
                  <a:srgbClr val="3FB950"/>
                </a:solidFill>
              </a:defRPr>
            </a:pPr>
            <a:r>
              <a:t>› runAsUser=1000, allowPrivilegeEscalation=false</a:t>
            </a:r>
          </a:p>
          <a:p>
            <a:pPr>
              <a:defRPr sz="1050" b="0">
                <a:solidFill>
                  <a:srgbClr val="E6EDF3"/>
                </a:solidFill>
              </a:defRPr>
            </a:pPr>
            <a:r>
              <a:t>› 250m/256Mi → 500m/512Mi  |  maxUnavailable=0</a:t>
            </a:r>
          </a:p>
          <a:p>
            <a:pPr>
              <a:defRPr sz="1050" b="0">
                <a:solidFill>
                  <a:srgbClr val="E6EDF3"/>
                </a:solidFill>
              </a:defRPr>
            </a:pPr>
            <a:r>
              <a:t>› Liveness + readiness probes on /health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5" y="2852928"/>
            <a:ext cx="3749039" cy="10515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7" y="2916936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FRONTEND — 2 REPLICAS  (Nginx :80)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7" y="3191256"/>
            <a:ext cx="35661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50" b="0">
                <a:solidFill>
                  <a:srgbClr val="E6EDF3"/>
                </a:solidFill>
              </a:defRPr>
            </a:pPr>
            <a:r>
              <a:t>› Multi-stage: Node build → Nginx static serve</a:t>
            </a:r>
          </a:p>
          <a:p>
            <a:pPr>
              <a:defRPr sz="1050" b="0">
                <a:solidFill>
                  <a:srgbClr val="E6EDF3"/>
                </a:solidFill>
              </a:defRPr>
            </a:pPr>
            <a:r>
              <a:t>› No secrets — pure static SPA  |  maxUnavailable=0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4255" y="3995928"/>
            <a:ext cx="3749039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7" y="4059936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CONFIG &amp; SECRETS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7" y="4334256"/>
            <a:ext cx="35661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50" b="0">
                <a:solidFill>
                  <a:srgbClr val="E6EDF3"/>
                </a:solidFill>
              </a:defRPr>
            </a:pPr>
            <a:r>
              <a:t>› ConfigMap backend-config — DB_HOST, CORS_ORIGINS (non-sensitive)</a:t>
            </a:r>
          </a:p>
          <a:p>
            <a:pPr>
              <a:defRPr sz="1050" b="0">
                <a:solidFill>
                  <a:srgbClr val="F78166"/>
                </a:solidFill>
              </a:defRPr>
            </a:pPr>
            <a:r>
              <a:t>› Secret backend-secrets — DB_PASSWORD, JWT_SECRET_KEY</a:t>
            </a:r>
          </a:p>
          <a:p>
            <a:pPr>
              <a:defRPr sz="1050" b="0">
                <a:solidFill>
                  <a:srgbClr val="E6EDF3"/>
                </a:solidFill>
              </a:defRPr>
            </a:pPr>
            <a:r>
              <a:t>› DB migration job: schema.sql + seed_data.sql before pods start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84462" y="1234440"/>
            <a:ext cx="3749039" cy="2651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4" y="1298448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IAM ROLES &amp; PERMISSIONS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4" y="1572768"/>
            <a:ext cx="3566159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50"/>
            </a:pPr>
            <a:r>
              <a:rPr b="1">
                <a:solidFill>
                  <a:srgbClr val="D2A8FF"/>
                </a:solidFill>
              </a:rPr>
              <a:t>› EKS Node Role</a:t>
            </a:r>
            <a:r>
              <a:rPr>
                <a:solidFill>
                  <a:srgbClr val="E6EDF3"/>
                </a:solidFill>
              </a:rPr>
              <a:t> → AmazonEC2ContainerRegistryReadOnly
    (nodes pull ECR — no imagePullSecrets needed)</a:t>
            </a:r>
          </a:p>
          <a:p/>
          <a:p>
            <a:pPr>
              <a:defRPr sz="1050"/>
            </a:pPr>
            <a:r>
              <a:rPr b="1">
                <a:solidFill>
                  <a:srgbClr val="D2A8FF"/>
                </a:solidFill>
              </a:rPr>
              <a:t>› LBC Role (IRSA)</a:t>
            </a:r>
            <a:r>
              <a:rPr>
                <a:solidFill>
                  <a:srgbClr val="E6EDF3"/>
                </a:solidFill>
              </a:rPr>
              <a:t> → create/manage ALBs, target groups
    (scoped to ELB + EC2 APIs only)</a:t>
            </a:r>
          </a:p>
          <a:p/>
          <a:p>
            <a:pPr>
              <a:defRPr sz="1050"/>
            </a:pPr>
            <a:r>
              <a:rPr b="1">
                <a:solidFill>
                  <a:srgbClr val="D2A8FF"/>
                </a:solidFill>
              </a:rPr>
              <a:t>› GitHub OIDC Role</a:t>
            </a:r>
            <a:r>
              <a:rPr>
                <a:solidFill>
                  <a:srgbClr val="E6EDF3"/>
                </a:solidFill>
              </a:rPr>
              <a:t> → AdministratorAccess — CI/CD deploys,
    pushes ECR, manages Terraform infra</a:t>
            </a:r>
          </a:p>
          <a:p/>
          <a:p>
            <a:pPr>
              <a:defRPr sz="1050"/>
            </a:pPr>
            <a:r>
              <a:rPr b="1">
                <a:solidFill>
                  <a:srgbClr val="D2A8FF"/>
                </a:solidFill>
              </a:rPr>
              <a:t>› EKS Cluster Role</a:t>
            </a:r>
            <a:r>
              <a:rPr>
                <a:solidFill>
                  <a:srgbClr val="E6EDF3"/>
                </a:solidFill>
              </a:rPr>
              <a:t> → AmazonEKSClusterPolicy</a:t>
            </a:r>
          </a:p>
          <a:p/>
        </p:txBody>
      </p:sp>
      <p:sp>
        <p:nvSpPr>
          <p:cNvPr id="24" name="Rectangle 23"/>
          <p:cNvSpPr/>
          <p:nvPr/>
        </p:nvSpPr>
        <p:spPr>
          <a:xfrm>
            <a:off x="8284462" y="3995928"/>
            <a:ext cx="3749039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03334" y="4059936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SECURITY 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4" y="4334256"/>
            <a:ext cx="35661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50" b="0">
                <a:solidFill>
                  <a:srgbClr val="3FB950"/>
                </a:solidFill>
              </a:defRPr>
            </a:pPr>
            <a:r>
              <a:t>› No imagePullSecrets — node IAM role handles ECR auth</a:t>
            </a:r>
          </a:p>
          <a:p>
            <a:pPr>
              <a:defRPr sz="1050" b="0">
                <a:solidFill>
                  <a:srgbClr val="3FB950"/>
                </a:solidFill>
              </a:defRPr>
            </a:pPr>
            <a:r>
              <a:t>› IRSA — LBC gets scoped role, not broad node role</a:t>
            </a:r>
          </a:p>
          <a:p>
            <a:pPr>
              <a:defRPr sz="1050" b="0">
                <a:solidFill>
                  <a:srgbClr val="3FB950"/>
                </a:solidFill>
              </a:defRPr>
            </a:pPr>
            <a:r>
              <a:t>› K8s Secrets — sensitive values separate from ConfigMap</a:t>
            </a:r>
          </a:p>
          <a:p>
            <a:pPr>
              <a:defRPr sz="1050" b="0">
                <a:solidFill>
                  <a:srgbClr val="3FB950"/>
                </a:solidFill>
              </a:defRPr>
            </a:pPr>
            <a:r>
              <a:t>› RDS unreachable — private subnet + SG from EKS nodes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